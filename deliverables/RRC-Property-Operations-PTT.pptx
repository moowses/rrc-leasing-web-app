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a66b93d644e14" /><Relationship Type="http://schemas.openxmlformats.org/officeDocument/2006/relationships/extended-properties" Target="/docProps/app.xml" Id="R7695c60e3dcb4ebb" /><Relationship Type="http://schemas.openxmlformats.org/officeDocument/2006/relationships/officeDocument" Target="/ppt/presentation.xml" Id="R8658e891fb1a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8475a917045b2"/>
  </p:sldMasterIdLst>
  <p:notesMasterIdLst>
    <p:notesMasterId xmlns:r="http://schemas.openxmlformats.org/officeDocument/2006/relationships" r:id="R3906ff5f01f04afe"/>
  </p:notesMasterIdLst>
  <p:sldIdLst>
    <p:sldId xmlns:r="http://schemas.openxmlformats.org/officeDocument/2006/relationships" id="256" r:id="Rb8b7ba3ae1e942bf"/>
    <p:sldId xmlns:r="http://schemas.openxmlformats.org/officeDocument/2006/relationships" id="257" r:id="R041da2715af34134"/>
    <p:sldId xmlns:r="http://schemas.openxmlformats.org/officeDocument/2006/relationships" id="258" r:id="Rb2c1684616954068"/>
    <p:sldId xmlns:r="http://schemas.openxmlformats.org/officeDocument/2006/relationships" id="259" r:id="R16ab8b3e882b4273"/>
    <p:sldId xmlns:r="http://schemas.openxmlformats.org/officeDocument/2006/relationships" id="260" r:id="R37e8350ca27e4558"/>
    <p:sldId xmlns:r="http://schemas.openxmlformats.org/officeDocument/2006/relationships" id="261" r:id="R905ed8f5cf514ee8"/>
    <p:sldId xmlns:r="http://schemas.openxmlformats.org/officeDocument/2006/relationships" id="262" r:id="R2720c3eb851642b2"/>
    <p:sldId xmlns:r="http://schemas.openxmlformats.org/officeDocument/2006/relationships" id="263" r:id="Rdc8cbe7aaf474525"/>
    <p:sldId xmlns:r="http://schemas.openxmlformats.org/officeDocument/2006/relationships" id="264" r:id="Rfe65af183076496a"/>
    <p:sldId xmlns:r="http://schemas.openxmlformats.org/officeDocument/2006/relationships" id="265" r:id="R3556136c1ea04f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f077e349144d6" /><Relationship Type="http://schemas.openxmlformats.org/officeDocument/2006/relationships/slideMaster" Target="/ppt/slideMasters/slideMaster1.xml" Id="Rc628475a917045b2" /><Relationship Type="http://schemas.openxmlformats.org/officeDocument/2006/relationships/notesMaster" Target="/ppt/notesMasters/notesMaster1.xml" Id="R3906ff5f01f04afe" /><Relationship Type="http://schemas.openxmlformats.org/officeDocument/2006/relationships/presProps" Target="/ppt/presProps.xml" Id="Rddf38123bfc2444d" /><Relationship Type="http://schemas.openxmlformats.org/officeDocument/2006/relationships/tableStyles" Target="/ppt/tableStyles.xml" Id="Rfc537c51b05141c2" /><Relationship Type="http://schemas.openxmlformats.org/officeDocument/2006/relationships/slide" Target="/ppt/slides/slide1.xml" Id="Rb8b7ba3ae1e942bf" /><Relationship Type="http://schemas.openxmlformats.org/officeDocument/2006/relationships/slide" Target="/ppt/slides/slide2.xml" Id="R041da2715af34134" /><Relationship Type="http://schemas.openxmlformats.org/officeDocument/2006/relationships/slide" Target="/ppt/slides/slide3.xml" Id="Rb2c1684616954068" /><Relationship Type="http://schemas.openxmlformats.org/officeDocument/2006/relationships/slide" Target="/ppt/slides/slide4.xml" Id="R16ab8b3e882b4273" /><Relationship Type="http://schemas.openxmlformats.org/officeDocument/2006/relationships/slide" Target="/ppt/slides/slide5.xml" Id="R37e8350ca27e4558" /><Relationship Type="http://schemas.openxmlformats.org/officeDocument/2006/relationships/slide" Target="/ppt/slides/slide6.xml" Id="R905ed8f5cf514ee8" /><Relationship Type="http://schemas.openxmlformats.org/officeDocument/2006/relationships/slide" Target="/ppt/slides/slide7.xml" Id="R2720c3eb851642b2" /><Relationship Type="http://schemas.openxmlformats.org/officeDocument/2006/relationships/slide" Target="/ppt/slides/slide8.xml" Id="Rdc8cbe7aaf474525" /><Relationship Type="http://schemas.openxmlformats.org/officeDocument/2006/relationships/slide" Target="/ppt/slides/slide9.xml" Id="Rfe65af183076496a" /><Relationship Type="http://schemas.openxmlformats.org/officeDocument/2006/relationships/slide" Target="/ppt/slides/slide10.xml" Id="R3556136c1ea04f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d31fdef36042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00b1527344320" /><Relationship Type="http://schemas.openxmlformats.org/officeDocument/2006/relationships/notesMaster" Target="/ppt/notesMasters/notesMaster1.xml" Id="R19b0b33de985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6c2b3e362746d2" /><Relationship Type="http://schemas.openxmlformats.org/officeDocument/2006/relationships/notesMaster" Target="/ppt/notesMasters/notesMaster1.xml" Id="Rfcd929bc53314b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d82a2c91d45e7" /><Relationship Type="http://schemas.openxmlformats.org/officeDocument/2006/relationships/notesMaster" Target="/ppt/notesMasters/notesMaster1.xml" Id="R12c1b7d2f82f4e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26ebf781343f0" /><Relationship Type="http://schemas.openxmlformats.org/officeDocument/2006/relationships/notesMaster" Target="/ppt/notesMasters/notesMaster1.xml" Id="Re7e957878d4043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ca26198c954673" /><Relationship Type="http://schemas.openxmlformats.org/officeDocument/2006/relationships/notesMaster" Target="/ppt/notesMasters/notesMaster1.xml" Id="R30685f9106c74d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f71a85b9584500" /><Relationship Type="http://schemas.openxmlformats.org/officeDocument/2006/relationships/notesMaster" Target="/ppt/notesMasters/notesMaster1.xml" Id="R689bdc8d8d34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f2dec9832f4728" /><Relationship Type="http://schemas.openxmlformats.org/officeDocument/2006/relationships/notesMaster" Target="/ppt/notesMasters/notesMaster1.xml" Id="Rf9ff9e52ea6244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2887628284a23" /><Relationship Type="http://schemas.openxmlformats.org/officeDocument/2006/relationships/notesMaster" Target="/ppt/notesMasters/notesMaster1.xml" Id="R1d38f68de2a443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744efc802b4e5f" /><Relationship Type="http://schemas.openxmlformats.org/officeDocument/2006/relationships/notesMaster" Target="/ppt/notesMasters/notesMaster1.xml" Id="R8d113bf5994142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d67d921c9e4d48" /><Relationship Type="http://schemas.openxmlformats.org/officeDocument/2006/relationships/notesMaster" Target="/ppt/notesMasters/notesMaster1.xml" Id="Rfa535181c7ed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introduce the proposed property operations platform. Current project materials support the website and preview workflows. The platform roadmap is a proposed direction for discussion, not an existing feature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handover documents describe the website as a preview and explicitly identify the missing administration, tenant intake and Collo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proposed product boundary: the public website remains a customer-facing channel while protected portals operate the leasing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hierarchy is a proposed foundation for the CMS and property operations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role separation prevents HR, Leasing, Accounting and Maintenance from seeing or changing records outside their responsibility.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release recommendation: accept payment proof and reconcile manually. Direct payment processing can follow after RRC selects an approved provider and confirms finance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bill only. Amounts are examples for explaining the proposed workflow and do not represent approved RRC rates.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Notifications should be in-app first, with email delivery and delivery status as a secondary channel.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sequence is proposed. Production sequencing may change after hosting, Collo and accounting requirements are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request: confirm that RRC wants to proceed with a property operations platform, then schedule a requirements workshop with Leasing, Accounting and Maintenance.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772d2100740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1f5d2816184db3" /><Relationship Type="http://schemas.openxmlformats.org/officeDocument/2006/relationships/slideLayout" Target="/ppt/slideLayouts/slideLayout1.xml" Id="Rd2d9201900b4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9201900b4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fd29a92374bd6" /><Relationship Type="http://schemas.openxmlformats.org/officeDocument/2006/relationships/image" Target="/ppt/media/image.png" Id="Rfb2a0abeee4348e3" /><Relationship Type="http://schemas.openxmlformats.org/officeDocument/2006/relationships/notesSlide" Target="/ppt/notesSlides/notesSlide1.xml" Id="R716f606eca5749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3136aef2e4e75" /><Relationship Type="http://schemas.openxmlformats.org/officeDocument/2006/relationships/image" Target="/ppt/media/image2.png" Id="R7ca0a721c5b24acb" /><Relationship Type="http://schemas.openxmlformats.org/officeDocument/2006/relationships/notesSlide" Target="/ppt/notesSlides/notesSlide2.xml" Id="Rb5c213eb0bfe49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4cf5a85dc4ba6" /><Relationship Type="http://schemas.openxmlformats.org/officeDocument/2006/relationships/notesSlide" Target="/ppt/notesSlides/notesSlide3.xml" Id="R5958d3d52a35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85cbf25834a8e" /><Relationship Type="http://schemas.openxmlformats.org/officeDocument/2006/relationships/notesSlide" Target="/ppt/notesSlides/notesSlide4.xml" Id="Rd8f4b9d4522648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fcfe392f47cd" /><Relationship Type="http://schemas.openxmlformats.org/officeDocument/2006/relationships/notesSlide" Target="/ppt/notesSlides/notesSlide5.xml" Id="R10846b8a046b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2c8a33a7441e0" /><Relationship Type="http://schemas.openxmlformats.org/officeDocument/2006/relationships/notesSlide" Target="/ppt/notesSlides/notesSlide6.xml" Id="R9ff96c64bbcb48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c883275d14615" /><Relationship Type="http://schemas.openxmlformats.org/officeDocument/2006/relationships/notesSlide" Target="/ppt/notesSlides/notesSlide7.xml" Id="R3dd506466a244a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83ab4d1648e9" /><Relationship Type="http://schemas.openxmlformats.org/officeDocument/2006/relationships/notesSlide" Target="/ppt/notesSlides/notesSlide8.xml" Id="R24bd5e61d11a44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5e4045094914" /><Relationship Type="http://schemas.openxmlformats.org/officeDocument/2006/relationships/notesSlide" Target="/ppt/notesSlides/notesSlide9.xml" Id="R7e7a62da879b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f951446b44072" /><Relationship Type="http://schemas.openxmlformats.org/officeDocument/2006/relationships/image" Target="/ppt/media/image3.png" Id="Rdc23a825cbd14871" /><Relationship Type="http://schemas.openxmlformats.org/officeDocument/2006/relationships/notesSlide" Target="/ppt/notesSlides/notesSlide10.xml" Id="Reb0e0c5f49a14e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A69A4-2247-4B46-9731-0881D49B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a0abeee4348e3"/>
          <a:stretch xmlns:a="http://schemas.openxmlformats.org/drawingml/2006/main"/>
        </p:blipFill>
        <p:spPr>
          <a:xfrm xmlns:a="http://schemas.openxmlformats.org/drawingml/2006/main">
            <a:off x="751860" y="514350"/>
            <a:ext cx="1096605" cy="7429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0C7FE-8AE3-4B1E-B679-0B50E8F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PROPERTY OPERATIONS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F1573-BD75-430A-AA57-867C429D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80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PTT presentation for Walter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6BE41-CBED-486B-8D5A-857FE9E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65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A practical roadmap from the current website to a connected leasing, renter and accounting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6240C-78F2-4961-8B5F-D83202FC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90600"/>
            <a:ext cx="3143250" cy="4667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E0419-36BE-4A14-92B2-DEB1D821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6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20D7C-94EE-401E-B613-CF273447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19431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B6B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B4986-8D8F-47F7-99B1-1C897C26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Website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Availability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Leasing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Billing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Renter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84E63-050B-4980-8817-9DF3B5F1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9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87012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868C7-EE4F-4904-AED0-420700B2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F6BAA-FCC1-4ECA-884F-7B381053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The website is the public front 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10965-3BC0-41C4-BFF4-64AD4488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next step is to connect the work behind the website.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62B17-887E-482D-8145-B1098BB9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0a721c5b24acb"/>
          <a:stretch xmlns:a="http://schemas.openxmlformats.org/drawingml/2006/main"/>
        </p:blipFill>
        <p:spPr>
          <a:xfrm xmlns:a="http://schemas.openxmlformats.org/drawingml/2006/main">
            <a:off x="1260534" y="2400300"/>
            <a:ext cx="984133" cy="66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428E8-5533-47C1-BAD3-69D5B42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What exists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3FAA9-4C7E-4C83-99BB-15A3B36B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381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Property browsing and area filters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Commercial and residential application previews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Careers form with optional email delivery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Viewing request workflow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Local preview server and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952E2-2D73-4502-BBD1-8BABED4E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4102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02E46-8372-492A-B9B0-AD8761DA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What staff still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33962-084A-42F0-A79B-26AB7827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One trusted property and unit record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Availability managed by authorized staff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Application-to-lease tracking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Monthly billing and payment review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• Renter communication and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2BFB0-2668-49E1-B83A-61C79D98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AB60A-C09B-401C-B543-9C5BC7E4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05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PROPOSED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C9039-7C65-41FF-A700-2CAB1A2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6505C-5567-41EB-9BCD-94F2488E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02</a:t>
            </a:r>
          </a:p>
        </p:txBody>
      </p:sp>
    </p:spTree>
    <p:extLst>
      <p:ext uri="{BB962C8B-B14F-4D97-AF65-F5344CB8AC3E}">
        <p14:creationId xmlns:p14="http://schemas.microsoft.com/office/powerpoint/2010/main" val="1244140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BBB99-2171-4C07-842F-223954F8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PLATFORM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4C326-EE64-4B5D-BA0A-52CDBED0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One operating model connects four experiences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ACE8B-DE73-4D13-A0EE-C6E044DF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Each team sees the work that belongs to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5DA5D-136D-49C9-966E-77DB09B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48B02-D641-4F60-8A8A-4053CC3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PUBLIC WEBSITE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58CD9-CB95-40E7-84E9-00AB62E9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Availability, property details, viewing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5CE3C-FD15-4DB2-A3AB-48B1ADB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56308-2197-4DA2-ACF0-F1BC2A21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STAFF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B95E6-A58A-4C20-B5BB-09DB8AA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Leasing, accounting, maintenance and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3AA3A-7500-4771-83D3-DD7585C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8F1E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EB5E4-DAFC-4A82-841A-06425BB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RENTER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CC6F1-0F2C-44DA-9FF9-8BD45D4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Lease, bills, payment proof and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03CED-ACF8-405D-8847-453DF8B7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4F647-AA41-40CC-B485-9510FB1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SHARED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A8D2D-D81C-4E61-9839-43C283C6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Properties, units, leases, charges and audit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A15F3-5895-4BBE-8CAB-6884A69D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1066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A9D8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1D794-5975-4CA8-8EE7-0A8F541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0" cy="1257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A9D8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E7967-74E1-4C53-8F2C-4C877CA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record moves with the property, unit and lease. Staff do not rebuild the same information in separate spreadsheets.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C956E-C19D-4898-866F-98343CC6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CB01C4-85C0-44CD-B3E2-B0D5A216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03</a:t>
            </a:r>
          </a:p>
        </p:txBody>
      </p:sp>
    </p:spTree>
    <p:extLst>
      <p:ext uri="{BB962C8B-B14F-4D97-AF65-F5344CB8AC3E}">
        <p14:creationId xmlns:p14="http://schemas.microsoft.com/office/powerpoint/2010/main" val="5895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482CE-E90F-485F-9EAD-2FC05802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15CA1-52BF-487D-8D4F-1E12C1A4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Availability starts with one trusted property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61A2-9A51-4A45-B0B8-96212831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An area can contain many properties, units and leases.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5EE10-881E-4F53-8AC9-7A04AF1B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9144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B31AE-D6A6-4D4A-A7FF-27410DFF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E8883-D8D4-4922-9998-ACE95C7F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288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Davao City · Indangan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84003-4961-4BA8-881A-157B0FA8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95575"/>
            <a:ext cx="8286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9C69E-667F-4FAE-8B22-FE8A01E3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781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PROPERTY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265CF-7F0B-4A09-871A-EB94267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717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RRC-owned building or development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D4270-33FC-4676-B90A-0EB20E1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38525"/>
            <a:ext cx="7429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1E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F49BC-7269-4A50-8AFC-FCE8139C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24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UNIT / 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27F1D-4248-4E9A-AA81-A175445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147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C-101 · commercial ·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3A9ED-2239-42AB-9E8E-36996F7F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181475"/>
            <a:ext cx="65722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FEA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7660C-CB87-43FE-B5F2-FA5EF9B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67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AF1D2-E703-4CB1-A726-0CCE8AD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2576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approved renter · term · 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E79C8-4473-4469-9A0C-C9DFFB6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24425"/>
            <a:ext cx="57150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C267A-5B72-4D1A-856D-30917238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BILLING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3E446-0C15-4B8E-A43F-16BD87D5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00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monthly charges · payment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9980F-89D6-484B-ADEC-FA69D727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When availability changes, the public listing, leasing queue and reporting view update from the same source.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3E08D-9B8F-4D08-8A9F-E952F742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63ADA-AF7C-4615-9AA4-3928783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04</a:t>
            </a:r>
          </a:p>
        </p:txBody>
      </p:sp>
    </p:spTree>
    <p:extLst>
      <p:ext uri="{BB962C8B-B14F-4D97-AF65-F5344CB8AC3E}">
        <p14:creationId xmlns:p14="http://schemas.microsoft.com/office/powerpoint/2010/main" val="562170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4ADA4-950F-40F5-BE8B-89913055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4B836-B0D4-43FE-8EE2-67A037B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The system makes ownership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911F1-84BF-4326-8033-8613D782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Permissions follow the work, not just the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691AF-FBB1-44FC-B150-AAC46A1D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36745-80B5-44AF-9247-F8630357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8AEC0-B85C-4DF2-B95F-1B1C2DE7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PRIMARY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9BB41-3720-4450-B2E8-933FF9ED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35598-6F34-44AC-B35F-AB041A1D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 / Property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F541E-CF5C-4462-B753-83B91ECF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Listings, availability, applications, leases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8D89B-9FEE-4BBA-8718-0200873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8EE3F-CADE-4E4C-84EA-3493698A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Accounting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DC33C-6B18-4117-A2D8-A48D2D97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76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Bills, adjustments, payment review,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5903-C121-45FF-9EF1-5605A74C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4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2B27F-F7FE-4AAA-91F0-F914603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250A6-058B-4BBF-8089-FC83A9FE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Requests, assignments, costs,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6FD8F-F4EC-47F2-8365-F137E6CD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5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231AD-AEB8-4E07-BAF6-D44A2822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A4EA6-0C75-49DB-9AC0-39936FF5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Lease, bills, payment proof, requests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DB387-FF21-4F88-97C6-1D6179A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EF0B7-3730-4702-B94B-666C4F15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Super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16285-AE8B-4E55-B4B5-9E6278D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Staff accounts, settings, audit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29D7F-F7AB-4FE3-A576-205C9427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Every change is attributable to a staff member and timestamped.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48EAE-8838-4657-B131-CE7B6F8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EBE3A-20BE-4E13-B371-34CAD9BB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05</a:t>
            </a:r>
          </a:p>
        </p:txBody>
      </p:sp>
    </p:spTree>
    <p:extLst>
      <p:ext uri="{BB962C8B-B14F-4D97-AF65-F5344CB8AC3E}">
        <p14:creationId xmlns:p14="http://schemas.microsoft.com/office/powerpoint/2010/main" val="1296549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815821-7F70-4789-AA73-4C535AB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RENTER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0A5F-DE96-41E8-9DFF-05622CBC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 clear path from approval to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7D6A7-05DD-4CC7-9CF8-46E1B53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renter sees the same lease record that Accounting manages.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9FCCF-3159-41DA-8E6D-869FB2F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RENTER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D406A-0F18-4E5F-890B-950A6FCE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 clear path from approval to 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0DECC-975A-44E2-9E31-0D868DB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The renter sees the same lease record that Accounting manages.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1057E-AEEE-47AB-8654-B091115F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74A36-4DEE-4ACD-B8E8-D8FAFD5D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EC158-DF98-49AE-B123-77A22C9E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Lease 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1ECBE-937A-4259-AC2A-154A3EB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Renter receives a secure invite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4C2B8-A2A7-41C2-B5C8-EB663336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56790-666C-47DF-96CA-FEB086BC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DC1C1-C565-412A-BB15-9891373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Bill issued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3BE9B-87EC-46EA-9994-907EB0D9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Monthly rent and other charges appear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6687C-7C9A-403B-8BB2-FA109725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40DB7-6067-40CF-A5DA-A62BB536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32E39-A222-421A-ABA6-5E14DB0B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Payment submitted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848F0-D05C-49AA-8904-89F5AB0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Renter uploads proof and payment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4CC8A-F557-4279-BE76-5A94B53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003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4B6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110AC-07B3-483F-BE99-2FDB6FA8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9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30FD7-2211-4BB9-BF2A-912F00AE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Accounting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C22BF-C857-4478-8185-D31D964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Staff approve, reject or request clarification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54E9D-928B-4B26-BA28-C16D0221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Bill status and notifications stay visible until the next action is complete.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7C535-FA98-49A7-97A2-5AA1885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19D51-7DC2-4F5F-ADD5-399FAAEF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PTT presentation  |  06</a:t>
            </a:r>
          </a:p>
        </p:txBody>
      </p:sp>
    </p:spTree>
    <p:extLst>
      <p:ext uri="{BB962C8B-B14F-4D97-AF65-F5344CB8AC3E}">
        <p14:creationId xmlns:p14="http://schemas.microsoft.com/office/powerpoint/2010/main" val="504160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AAA78-B2A7-4DE9-A115-EBF3B156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BILLING AND ACCOUNTING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E812-E76A-4F36-B51E-C8EB7F2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Bills become a controlled monthly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3AD69-00EE-491F-B59F-C6D7BD0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Accounting can explain every amount and every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E04E5-7357-4EF5-A15F-9B456C05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95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2AEF9-4CE9-4116-AD33-BA6ED387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MONTHLY BILL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A6B79-DFCE-4125-A1B3-C0BAF5F5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C-101 · 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0AA66-2C62-4BDA-93E6-468F99FF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31623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4B6B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41EDD-DD51-4474-961B-3622CFD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Monthly rent                  ₱45,000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Utilities                         ₱3,200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Other charge                    ₱1,000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F5575-A8B4-4DCB-A5C2-79BC9E42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TOTAL DUE                  ₱49,200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49ACD-5627-465A-A231-C42DC3A9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60579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4A34F-60D1-48A2-A45C-1DCE181A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Accounting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887F4-6113-4F0E-8AFC-4A12AF02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Recurring rent rules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Utility and one-time adjustments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Due dates and overdue status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Payment proof review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Receipt and reconciliation history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50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• Property-level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E8980-F1C6-4ABB-855E-42DAEDB0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244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7ABD3-CA60-42B9-9474-1E65969E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720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AUDITABLE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532D1-21D3-4617-B54E-8A27613E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0CBD8-5EF1-45B0-8A6C-F5D7610D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07</a:t>
            </a:r>
          </a:p>
        </p:txBody>
      </p:sp>
    </p:spTree>
    <p:extLst>
      <p:ext uri="{BB962C8B-B14F-4D97-AF65-F5344CB8AC3E}">
        <p14:creationId xmlns:p14="http://schemas.microsoft.com/office/powerpoint/2010/main" val="982958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F865D3-0E8C-40AA-9EE4-7668A316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NOTIFICATIONS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46540-1770-45F1-9046-6BD2D036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The right person receives the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84CD-5CB8-4EDB-B590-462A73E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The system should reduce follow-up work, not create another inbox.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1119A-1BFE-4566-82C4-59C11DB9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4AF3B-4040-4E65-A98E-356B8127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NEW VIEWING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41737-B563-414F-982E-A47131A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5262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A194-F463-4D7E-B8E8-AE8D9501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240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84D81-A5F4-422B-B4A5-DB503156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604F6-C620-4BFA-8937-643F5BDC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Review request and confirm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E0BD9-3791-4CC1-845C-E0B5B7AD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DA0A1-115E-4E70-9EBA-CA0FB816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NEW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BD7EA-7EAE-4E3E-B23E-DC505E5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5747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0ECAC-7229-4B3E-B3FA-43ACADA1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289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Leasing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E4A80-C339-451E-9A7F-D76372E1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747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3C699-C9F1-4E2F-A183-C5CE57C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289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Review documents and decision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C96F1-1FD7-4EF0-8865-17C87009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F1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29E7E-7E2E-4906-A9E4-D78BCB27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NEW BILL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B683F-6BE8-42E9-B95E-7F196A6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6232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F40C6-59AC-4582-8720-48F592C5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337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F109C-DFAB-4E48-81A4-EE1A601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6232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5FED1-B2C5-47A7-B6F5-CE474089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Open bill and submit payment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65C0D-5DB3-47B5-9080-7825C094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A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9774F-0C0B-4BB1-8173-D5C162D2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PAYMENT SUBMITTED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A00ED-2848-4D40-A28B-51AC119D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6717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C0B73-0C31-4A31-B0E1-CD0A83D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38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Accounting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2C5AD4-F061-4068-A3FA-C767F2F1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A6169-8B42-4AFC-9C05-EA19590C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Review proof and reconcile invoice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718A15-84F3-44BE-B5E3-21170125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66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A2060-7B3F-4240-9AD7-66F711E8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MAINTENANCE 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7208B-7C81-4C48-BD7E-C1AADF80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72025"/>
            <a:ext cx="2095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78236-7F4C-4467-A5BE-056BC1CF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434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Renter + Maintenance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21C26-A395-4D31-9B63-E43149D1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72025"/>
            <a:ext cx="5257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E85AE-139F-4D56-9612-0202B27C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172B4D"/>
                </a:solidFill>
                <a:latin typeface="Source Sans 3"/>
                <a:ea typeface="Source Sans 3"/>
                <a:cs typeface="Source Sans 3"/>
              </a:rPr>
              <a:t>Confirm access or completion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E34A3-292E-42F8-8EC4-6935653B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E32EB2-6B35-427E-83B3-9A0577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08</a:t>
            </a:r>
          </a:p>
        </p:txBody>
      </p:sp>
    </p:spTree>
    <p:extLst>
      <p:ext uri="{BB962C8B-B14F-4D97-AF65-F5344CB8AC3E}">
        <p14:creationId xmlns:p14="http://schemas.microsoft.com/office/powerpoint/2010/main" val="1776631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54A03-6F9E-4498-8731-42615D10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230B-55E8-4966-87C2-B74BB93F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A43"/>
                </a:solidFill>
                <a:latin typeface="Manrope"/>
                <a:ea typeface="Manrope"/>
                <a:cs typeface="Manrope"/>
              </a:rPr>
              <a:t>Build the operating core in controlled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E321-592F-426E-AD01-725FBB84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Each phase creates a usable capability before the next one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4FB15-90E8-4E7C-BD79-B237610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9E511-BCAE-4E4F-89F0-7B98429B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0377D-2AF3-4F38-A32E-94B577F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CF50-13D2-46DF-A592-E138D737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Hosting, database, authentication, roles, audit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7B6AE-A3AC-4327-BF96-A865A404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333B2-F392-49C8-9B1A-569EDB18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B0284-A713-481C-B7E3-B97175C6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Property CMS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11C81-6B26-4413-8C73-C15DD885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Areas, properties, units, photos, 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D2399-2FDC-4D23-8077-8672510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3B593-C980-4197-931E-3B500D5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E1C08-91D8-4E40-A6F0-B9C86E4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Leasing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1E84C-D58A-4080-8661-466456D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Applications, approvals, leases, renter invitations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1CBAF-EC10-4E22-9E6C-33EED03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3C275-13E9-4B52-A450-6F15F838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2DC9F-75FA-4318-94B3-D6266D0F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Renter portal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BEFD4-7967-4594-AA2E-6D83BA90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Bills, payment proof, notifications, 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493D8-B393-4287-B8EE-A0E89B3C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809750" cy="2286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B2631-233F-4C8A-9E89-5D71DCF2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289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A93C2-2DF6-49B1-A400-57401A82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Accounting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81851-88C7-42EA-9FE9-AC882C18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005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defRPr>
            </a:pPr>
            <a:r>
              <a:rPr sz="1275" b="0">
                <a:solidFill>
                  <a:srgbClr val="E6EFF3"/>
                </a:solidFill>
                <a:latin typeface="Source Sans 3"/>
                <a:ea typeface="Source Sans 3"/>
                <a:cs typeface="Source Sans 3"/>
              </a:rPr>
              <a:t>Recurring billing, reconciliation, reports, exports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0A4A3-D9FA-4628-9557-0E3CD0B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defRPr>
            </a:pPr>
            <a:r>
              <a:rPr sz="1425" b="0">
                <a:solidFill>
                  <a:srgbClr val="526777"/>
                </a:solidFill>
                <a:latin typeface="Source Sans 3"/>
                <a:ea typeface="Source Sans 3"/>
                <a:cs typeface="Source Sans 3"/>
              </a:rPr>
              <a:t>Direct online payments and Collo integration follow once the core records and approval controls are stable.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BABC3-4FA9-4CD7-A0AA-FFB636BC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25DEF-16B9-49C0-AC7E-4073806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9808D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9808D"/>
                </a:solidFill>
                <a:latin typeface="Manrope"/>
                <a:ea typeface="Manrope"/>
                <a:cs typeface="Manrope"/>
              </a:rPr>
              <a:t>PTT presentation  |  09</a:t>
            </a:r>
          </a:p>
        </p:txBody>
      </p:sp>
    </p:spTree>
    <p:extLst>
      <p:ext uri="{BB962C8B-B14F-4D97-AF65-F5344CB8AC3E}">
        <p14:creationId xmlns:p14="http://schemas.microsoft.com/office/powerpoint/2010/main" val="1954490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3a825cbd14871"/>
          <a:stretch xmlns:a="http://schemas.openxmlformats.org/drawingml/2006/main"/>
        </p:blipFill>
        <p:spPr>
          <a:xfrm xmlns:a="http://schemas.openxmlformats.org/drawingml/2006/main">
            <a:off x="751860" y="514350"/>
            <a:ext cx="1096605" cy="742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19E59-1DA4-410A-B949-2D8201A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DECISION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DCB59-A1F4-4679-A992-363C5F2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Approve the direction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for a connected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property operations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98854-E18F-4962-B934-65A5013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57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The current website remains the public front door. The new platform gives Leasing, Accounting, Maintenance and renters one controlled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113F9-8811-4713-A4F8-0612006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2571750" cy="28575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457D-98BC-4426-8319-CE285DA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9D8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A9D8F"/>
                </a:solidFill>
                <a:latin typeface="Manrope"/>
                <a:ea typeface="Manrope"/>
                <a:cs typeface="Manrope"/>
              </a:rPr>
              <a:t>First approval needed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E7583-8DB1-4E13-9F11-84D98603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1  Confirm roles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2  Confirm billing rules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3  Confirm hosting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FFFFFF"/>
                </a:solidFill>
                <a:latin typeface="Source Sans 3"/>
                <a:ea typeface="Source Sans 3"/>
                <a:cs typeface="Source Sans 3"/>
              </a:rPr>
              <a:t>4  Confirm renter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493CA-CED3-48B5-8326-460E088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defRPr>
            </a:pPr>
            <a:r>
              <a:rPr sz="1125" b="0">
                <a:solidFill>
                  <a:srgbClr val="C6D6DF"/>
                </a:solidFill>
                <a:latin typeface="Source Sans 3"/>
                <a:ea typeface="Source Sans 3"/>
                <a:cs typeface="Source Sans 3"/>
              </a:rPr>
              <a:t>Next step: Phase 1 foundation and product requirements workshop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11694-7042-48F0-982B-C56E72B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ROSEFOOD REALTY CORPORATION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0040F-6A30-4FBE-82A6-B5577EE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D8E4EA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D8E4EA"/>
                </a:solidFill>
                <a:latin typeface="Manrope"/>
                <a:ea typeface="Manrope"/>
                <a:cs typeface="Manrope"/>
              </a:rPr>
              <a:t>PTT presentation  |  10</a:t>
            </a:r>
          </a:p>
        </p:txBody>
      </p:sp>
    </p:spTree>
    <p:extLst>
      <p:ext uri="{BB962C8B-B14F-4D97-AF65-F5344CB8AC3E}">
        <p14:creationId xmlns:p14="http://schemas.microsoft.com/office/powerpoint/2010/main" val="543601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2026-09-30T14:12:51.2050000Z</dcterms:created>
  <dcterms:modified xsi:type="dcterms:W3CDTF">2026-09-30T14:12:51.2050000Z</dcterms:modified>
</coreProperties>
</file>